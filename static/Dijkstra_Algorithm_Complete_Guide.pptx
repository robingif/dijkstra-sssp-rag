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DATA STRUCTURES &amp; ALGORITHMS | GRAPH THEORY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</a:defRPr>
            </a:pPr>
            <a:r>
              <a:t>Dijkstra's Shortest Path Algorithm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Single-Source Shortest Path (SSSP) on Weighted Graphs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3328416" cy="4297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296265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B981"/>
                </a:solidFill>
              </a:defRPr>
            </a:pPr>
            <a:r>
              <a:t>🎯 Core Problem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788920"/>
            <a:ext cx="2962656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8FAFC"/>
                </a:solidFill>
              </a:defRPr>
            </a:pPr>
            <a:r>
              <a:t>Find shortest paths from a single source node to all other vertices in a directed or undirected graph with non-negative edge weights.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16552" y="2011680"/>
            <a:ext cx="3328416" cy="4297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99432" y="2194560"/>
            <a:ext cx="296265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59E0B"/>
                </a:solidFill>
              </a:defRPr>
            </a:pPr>
            <a:r>
              <a:t>⚡ Greedy Paradigm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9432" y="2788920"/>
            <a:ext cx="2962656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8FAFC"/>
                </a:solidFill>
              </a:defRPr>
            </a:pPr>
            <a:r>
              <a:t>Greedily finalizes the closest unvisited vertex at each step, guaranteeing optimality via mathematical edge relaxation.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01584" y="2011680"/>
            <a:ext cx="3328416" cy="4297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4464" y="2194560"/>
            <a:ext cx="296265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</a:defRPr>
            </a:pPr>
            <a:r>
              <a:t>🌐 Industry Applications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84464" y="2788920"/>
            <a:ext cx="2962656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8FAFC"/>
                </a:solidFill>
              </a:defRPr>
            </a:pPr>
            <a:r>
              <a:t>Drives the Internet's core routing via OSPF, powers Google Maps / GPS navigation, and guides autonomous vehicle pathfinding.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FOUNDATIONAL CONCEPTS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</a:defRPr>
            </a:pPr>
            <a:r>
              <a:t>1. Problem Formulation &amp; Edge Relaxation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How Distance Estimates Converge to True Shortest Distances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3328416" cy="4297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296265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B981"/>
                </a:solidFill>
              </a:defRPr>
            </a:pPr>
            <a:r>
              <a:t>Mathematical Definition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788920"/>
            <a:ext cx="2962656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8FAFC"/>
                </a:solidFill>
              </a:defRPr>
            </a:pPr>
            <a:r>
              <a:t>Given G = (V, E) with weights w(u, v) ≥ 0:</a:t>
            </a:r>
            <a:br/>
            <a:r>
              <a:t>• d[v]: Tentative distance estimate from source s</a:t>
            </a:r>
            <a:br/>
            <a:r>
              <a:t>• π[v]: Predecessor vertex in the Shortest Path Tree</a:t>
            </a:r>
            <a:br/>
            <a:r>
              <a:t>• δ(s, v): True minimum shortest path weight.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16552" y="2011680"/>
            <a:ext cx="3328416" cy="4297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99432" y="2194560"/>
            <a:ext cx="296265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59E0B"/>
                </a:solidFill>
              </a:defRPr>
            </a:pPr>
            <a:r>
              <a:t>The Relaxation Step (Relax)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9432" y="2788920"/>
            <a:ext cx="2962656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8FAFC"/>
                </a:solidFill>
              </a:defRPr>
            </a:pPr>
            <a:r>
              <a:t>if d[v] &gt; d[u] + w(u, v):</a:t>
            </a:r>
            <a:br/>
            <a:r>
              <a:t>    d[v] = d[u] + w(u, v)</a:t>
            </a:r>
            <a:br/>
            <a:r>
              <a:t>    π[v] = u</a:t>
            </a:r>
            <a:br/>
            <a:br/>
            <a:r>
              <a:t>If traversing through vertex u offers a shorter path to v, immediately update d[v]!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01584" y="2011680"/>
            <a:ext cx="3328416" cy="4297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4464" y="2194560"/>
            <a:ext cx="296265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</a:defRPr>
            </a:pPr>
            <a:r>
              <a:t>Key Invariants (MIT 6.006)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84464" y="2788920"/>
            <a:ext cx="2962656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8FAFC"/>
                </a:solidFill>
              </a:defRPr>
            </a:pPr>
            <a:r>
              <a:t>• Upper-Bound Property: d[v] ≥ δ(s, v) at all times</a:t>
            </a:r>
            <a:br/>
            <a:r>
              <a:t>• Triangle Inequality: δ(s, v) ≤ δ(s, u) + w(u, v)</a:t>
            </a:r>
            <a:br/>
            <a:r>
              <a:t>• Convergence: Once d[u] = δ(s, u), relaxing (u, v) sets d[v] = δ(s, v).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ALGORITHMIC MECHANICS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</a:defRPr>
            </a:pPr>
            <a:r>
              <a:t>2. The Greedy Invariant &amp; SPT Construction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Why Greed Guarantees Global Optimality for Non-Negative Weights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3328416" cy="4297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296265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B981"/>
                </a:solidFill>
              </a:defRPr>
            </a:pPr>
            <a:r>
              <a:t>Two Vertex Partitions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788920"/>
            <a:ext cx="2962656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8FAFC"/>
                </a:solidFill>
              </a:defRPr>
            </a:pPr>
            <a:r>
              <a:t>1. Visited / Finalized Set (S): Vertices whose shortest distance is proven optimal: d[u] = δ(s, u).</a:t>
            </a:r>
            <a:br/>
            <a:r>
              <a:t>2. Unvisited Priority Queue (Q): Vertices awaiting finalization, keyed by d[v].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16552" y="2011680"/>
            <a:ext cx="3328416" cy="4297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99432" y="2194560"/>
            <a:ext cx="296265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59E0B"/>
                </a:solidFill>
              </a:defRPr>
            </a:pPr>
            <a:r>
              <a:t>Step-by-Step Execution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9432" y="2788920"/>
            <a:ext cx="2962656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8FAFC"/>
                </a:solidFill>
              </a:defRPr>
            </a:pPr>
            <a:r>
              <a:t>1. Set d[src] = 0, all other d[v] = ∞. Push (src, 0) to PQ.</a:t>
            </a:r>
            <a:br/>
            <a:r>
              <a:t>2. While PQ is not empty:</a:t>
            </a:r>
            <a:br/>
            <a:r>
              <a:t>   a. Pop vertex u with minimum d[u].</a:t>
            </a:r>
            <a:br/>
            <a:r>
              <a:t>   b. Add u to finalized set S.</a:t>
            </a:r>
            <a:br/>
            <a:r>
              <a:t>   c. For each neighbor v of u: Relax(u, v, w).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01584" y="2011680"/>
            <a:ext cx="3328416" cy="4297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4464" y="2194560"/>
            <a:ext cx="296265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</a:defRPr>
            </a:pPr>
            <a:r>
              <a:t>Shortest Path Tree (SPT)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84464" y="2788920"/>
            <a:ext cx="2962656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8FAFC"/>
                </a:solidFill>
              </a:defRPr>
            </a:pPr>
            <a:r>
              <a:t>The predecessor pointers π[v] form a directed spanning tree rooted at the source. Any path from s to v in this tree is a strictly shortest path.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REPRESENTATION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</a:defRPr>
            </a:pPr>
            <a:r>
              <a:t>3. Adjacency Matrix Implementation — O(V²)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Simplicity and Optimality for Dense Graphs (MIT 6.006 (Prof. Erik Demaine &amp; Srinivas Devadas))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3328416" cy="4297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296265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B981"/>
                </a:solidFill>
              </a:defRPr>
            </a:pPr>
            <a:r>
              <a:t>How it 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788920"/>
            <a:ext cx="2962656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8FAFC"/>
                </a:solidFill>
              </a:defRPr>
            </a:pPr>
            <a:r>
              <a:t>• Graph stored as V x V 2D matrix.</a:t>
            </a:r>
            <a:br/>
            <a:r>
              <a:t>• To find minimum distance node: linearly scan the V-element distance array in O(V) time.</a:t>
            </a:r>
            <a:br/>
            <a:r>
              <a:t>• Outer loop executes V times → Total Time: O(V²).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16552" y="2011680"/>
            <a:ext cx="3328416" cy="4297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99432" y="2194560"/>
            <a:ext cx="296265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59E0B"/>
                </a:solidFill>
              </a:defRPr>
            </a:pPr>
            <a:r>
              <a:t>Space &amp; Resource Trade-Off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9432" y="2788920"/>
            <a:ext cx="2962656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8FAFC"/>
                </a:solidFill>
              </a:defRPr>
            </a:pPr>
            <a:r>
              <a:t>• Time Complexity: O(V²)</a:t>
            </a:r>
            <a:br/>
            <a:r>
              <a:t>• Space Complexity: O(V²) for matrix, O(V) auxiliary.</a:t>
            </a:r>
            <a:br/>
            <a:r>
              <a:t>• Best for dense graphs where E ≈ V² (e.g., airline routing between all major cities).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01584" y="2011680"/>
            <a:ext cx="3328416" cy="4297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4464" y="2194560"/>
            <a:ext cx="296265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</a:defRPr>
            </a:pPr>
            <a:r>
              <a:t>Limitations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84464" y="2788920"/>
            <a:ext cx="2962656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8FAFC"/>
                </a:solidFill>
              </a:defRPr>
            </a:pPr>
            <a:r>
              <a:t>For sparse networks (e.g., roads, social graphs with E = O(V)), scanning all V vertices at every step wastefully inspects non-existent edges.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REPRESENTATION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</a:defRPr>
            </a:pPr>
            <a:r>
              <a:t>4. Adjacency List + Min-Heap — O((V + E) log V)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The Production Standard for Sparse Networks (MIT 6.006 (Prof. Erik Demaine &amp; Srinivas Devadas))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3328416" cy="4297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296265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B981"/>
                </a:solidFill>
              </a:defRPr>
            </a:pPr>
            <a:r>
              <a:t>Heap Acceleration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788920"/>
            <a:ext cx="2962656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8FAFC"/>
                </a:solidFill>
              </a:defRPr>
            </a:pPr>
            <a:r>
              <a:t>• Store graph as adjacency list.</a:t>
            </a:r>
            <a:br/>
            <a:r>
              <a:t>• Maintain tentative distances in a Min-Heap (Priority Queue).</a:t>
            </a:r>
            <a:br/>
            <a:r>
              <a:t>• Extract-Min drops from O(V) to O(log V)!</a:t>
            </a:r>
            <a:br/>
            <a:r>
              <a:t>• Edge relaxation inserts in O(log V).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16552" y="2011680"/>
            <a:ext cx="3328416" cy="4297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99432" y="2194560"/>
            <a:ext cx="296265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59E0B"/>
                </a:solidFill>
              </a:defRPr>
            </a:pPr>
            <a:r>
              <a:t>Lazy Deletion Strategy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9432" y="2788920"/>
            <a:ext cx="2962656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8FAFC"/>
                </a:solidFill>
              </a:defRPr>
            </a:pPr>
            <a:r>
              <a:t>• Instead of complex decrease-key handles, push (new_dist, v) directly into the heap.</a:t>
            </a:r>
            <a:br/>
            <a:r>
              <a:t>• When popping, if current_dist &gt; dist[v], discard as stale!</a:t>
            </a:r>
            <a:br/>
            <a:r>
              <a:t>• Maintains identical O((V + E) log V) bound.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01584" y="2011680"/>
            <a:ext cx="3328416" cy="4297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4464" y="2194560"/>
            <a:ext cx="296265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</a:defRPr>
            </a:pPr>
            <a:r>
              <a:t>Quantitative Comparison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84464" y="2788920"/>
            <a:ext cx="2962656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8FAFC"/>
                </a:solidFill>
              </a:defRPr>
            </a:pPr>
            <a:r>
              <a:t>For V = 100,000 and E = 300,000:</a:t>
            </a:r>
            <a:br/>
            <a:r>
              <a:t>• Matrix O(V²): 10,000,000,000 operations (~10s)</a:t>
            </a:r>
            <a:br/>
            <a:r>
              <a:t>• Min-Heap O((V+E) log V): ~6,600,000 ops (&lt;0.01s)</a:t>
            </a:r>
            <a:br/>
            <a:r>
              <a:t>→ Over 1,500x speedup in real-world graphs!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C++ STL OPTIMIZATION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</a:defRPr>
            </a:pPr>
            <a:r>
              <a:t>5. Using std::set in C++ (Self-Balancing BST)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Emulating Decrease-Key without Heap Redundancy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3328416" cy="4297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296265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B981"/>
                </a:solidFill>
              </a:defRPr>
            </a:pPr>
            <a:r>
              <a:t>Why std::set?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788920"/>
            <a:ext cx="2962656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8FAFC"/>
                </a:solidFill>
              </a:defRPr>
            </a:pPr>
            <a:r>
              <a:t>• std::priority_queue in C++ does not support erasing arbitrary elements.</a:t>
            </a:r>
            <a:br/>
            <a:r>
              <a:t>• std::set is implemented as a Red-Black Tree and supports erase() in O(log N).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16552" y="2011680"/>
            <a:ext cx="3328416" cy="4297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99432" y="2194560"/>
            <a:ext cx="296265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59E0B"/>
                </a:solidFill>
              </a:defRPr>
            </a:pPr>
            <a:r>
              <a:t>The Dynamic Update Mechanism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9432" y="2788920"/>
            <a:ext cx="2962656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8FAFC"/>
                </a:solidFill>
              </a:defRPr>
            </a:pPr>
            <a:r>
              <a:t>When relaxing edge (u, v):</a:t>
            </a:r>
            <a:br/>
            <a:r>
              <a:t>if (dist[v] != INF)</a:t>
            </a:r>
            <a:br/>
            <a:r>
              <a:t>    st.erase(st.find({dist[v], v}));</a:t>
            </a:r>
            <a:br/>
            <a:r>
              <a:t>dist[v] = dist[u] + weight;</a:t>
            </a:r>
            <a:br/>
            <a:r>
              <a:t>st.insert({dist[v], v});</a:t>
            </a:r>
            <a:br/>
            <a:br/>
            <a:r>
              <a:t>Old entries are purged immediately!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01584" y="2011680"/>
            <a:ext cx="3328416" cy="4297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4464" y="2194560"/>
            <a:ext cx="296265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</a:defRPr>
            </a:pPr>
            <a:r>
              <a:t>Space Guarantee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84464" y="2788920"/>
            <a:ext cx="2962656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8FAFC"/>
                </a:solidFill>
              </a:defRPr>
            </a:pPr>
            <a:r>
              <a:t>The set strictly contains at most V elements at all times (O(V) space), compared to up to E elements in priority_queue lazy deletion.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THEORETICAL LIMITS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</a:defRPr>
            </a:pPr>
            <a:r>
              <a:t>6. Why Dijkstra Fails on Negative Weights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The Greedy Invariant Breakdown &amp; Counterexample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3328416" cy="4297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296265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B981"/>
                </a:solidFill>
              </a:defRPr>
            </a:pPr>
            <a:r>
              <a:t>The Fatal Flaw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788920"/>
            <a:ext cx="2962656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8FAFC"/>
                </a:solidFill>
              </a:defRPr>
            </a:pPr>
            <a:r>
              <a:t>• Dijkstra assumes path weights monotonically increase with each hop.</a:t>
            </a:r>
            <a:br/>
            <a:r>
              <a:t>• Negative edges allow a path to become shorter after traversing more edges.</a:t>
            </a:r>
            <a:br/>
            <a:r>
              <a:t>• Once a node is marked visited, Dijkstra never re-checks it!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16552" y="2011680"/>
            <a:ext cx="3328416" cy="4297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99432" y="2194560"/>
            <a:ext cx="296265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59E0B"/>
                </a:solidFill>
              </a:defRPr>
            </a:pPr>
            <a:r>
              <a:t>The 3-Node Counterexample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9432" y="2788920"/>
            <a:ext cx="2962656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8FAFC"/>
                </a:solidFill>
              </a:defRPr>
            </a:pPr>
            <a:r>
              <a:t>• Edges: (A, B)=5, (A, C)=2, (B, C)= -6</a:t>
            </a:r>
            <a:br/>
            <a:r>
              <a:t>• Dijkstra finalizes C first with dist[C] = 2.</a:t>
            </a:r>
            <a:br/>
            <a:r>
              <a:t>• Later it inspects B (5) and finds A → B → C = 5 - 6 = -1.</a:t>
            </a:r>
            <a:br/>
            <a:r>
              <a:t>• Result: Dijkstra misses the true shortest path (-1)!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01584" y="2011680"/>
            <a:ext cx="3328416" cy="4297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4464" y="2194560"/>
            <a:ext cx="296265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</a:defRPr>
            </a:pPr>
            <a:r>
              <a:t>Correct Alternative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84464" y="2788920"/>
            <a:ext cx="2962656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8FAFC"/>
                </a:solidFill>
              </a:defRPr>
            </a:pPr>
            <a:r>
              <a:t>• Use Bellman-Ford Algorithm: O(V · E).</a:t>
            </a:r>
            <a:br/>
            <a:r>
              <a:t>• Relaxes all E edges V-1 times and detects negative cycles.</a:t>
            </a:r>
            <a:br/>
            <a:r>
              <a:t>• For DAGs with negative weights, topological sort relaxation achieves O(V + E)!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REAL-WORLD SYSTEMS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</a:defRPr>
            </a:pPr>
            <a:r>
              <a:t>7. Industrial Applications of Dijkstra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From Internet Backbones to Planetary Navigation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3328416" cy="4297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296265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B981"/>
                </a:solidFill>
              </a:defRPr>
            </a:pPr>
            <a:r>
              <a:t>OSPF &amp; IS-IS Internet Routing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788920"/>
            <a:ext cx="2962656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8FAFC"/>
                </a:solidFill>
              </a:defRPr>
            </a:pPr>
            <a:r>
              <a:t>• Routers broadcast Link-State Advertisements (LSAs).</a:t>
            </a:r>
            <a:br/>
            <a:r>
              <a:t>• Every router runs Dijkstra with itself as root to build its Forwarding Information Base (FIB).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16552" y="2011680"/>
            <a:ext cx="3328416" cy="4297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99432" y="2194560"/>
            <a:ext cx="296265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59E0B"/>
                </a:solidFill>
              </a:defRPr>
            </a:pPr>
            <a:r>
              <a:t>Google Maps &amp; GPS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9432" y="2788920"/>
            <a:ext cx="2962656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8FAFC"/>
                </a:solidFill>
              </a:defRPr>
            </a:pPr>
            <a:r>
              <a:t>• Road networks mapped with weights = distance / speed + congestion.</a:t>
            </a:r>
            <a:br/>
            <a:r>
              <a:t>• Uses Bidirectional Dijkstra, A* Heuristics, and Contraction Hierarchies for sub-millisecond route calculation.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01584" y="2011680"/>
            <a:ext cx="3328416" cy="4297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4464" y="2194560"/>
            <a:ext cx="296265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</a:defRPr>
            </a:pPr>
            <a:r>
              <a:t>Robotics &amp; Telecommunications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84464" y="2788920"/>
            <a:ext cx="2962656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8FAFC"/>
                </a:solidFill>
              </a:defRPr>
            </a:pPr>
            <a:r>
              <a:t>• Grid maps: autonomous robots find collision-free minimum battery trajectories.</a:t>
            </a:r>
            <a:br/>
            <a:r>
              <a:t>• High-frequency trading: calculates lowest-latency fiber-optic routes between exchanges.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</a:defRPr>
            </a:pPr>
            <a:r>
              <a:t>8. Grounded RAG Pipeline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Ensuring Factual Integrity &amp; Transparent Source Attribution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3328416" cy="4297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296265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B981"/>
                </a:solidFill>
              </a:defRPr>
            </a:pPr>
            <a:r>
              <a:t>Knowledge Ingestion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788920"/>
            <a:ext cx="2962656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8FAFC"/>
                </a:solidFill>
              </a:defRPr>
            </a:pPr>
            <a:r>
              <a:t>Authentic study archive curated from MIT 6.006 (Demaine &amp; Devadas), split into semantic code &amp; math chunks.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16552" y="2011680"/>
            <a:ext cx="3328416" cy="4297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99432" y="2194560"/>
            <a:ext cx="296265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59E0B"/>
                </a:solidFill>
              </a:defRPr>
            </a:pPr>
            <a:r>
              <a:t>Hybrid Retrieval Engine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9432" y="2788920"/>
            <a:ext cx="2962656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8FAFC"/>
                </a:solidFill>
              </a:defRPr>
            </a:pPr>
            <a:r>
              <a:t>Combines dense cosine similarity (semantic intent) with BM25 lexical token matching for exact algorithmic formulas and Big-O bounds.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01584" y="2011680"/>
            <a:ext cx="3328416" cy="4297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4464" y="2194560"/>
            <a:ext cx="296265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</a:defRPr>
            </a:pPr>
            <a:r>
              <a:t>Strict Grounding Guardrail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84464" y="2788920"/>
            <a:ext cx="2962656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8FAFC"/>
                </a:solidFill>
              </a:defRPr>
            </a:pPr>
            <a:r>
              <a:t>Out-of-scope filter rejects non-Dijkstra queries, and verified answers output clickable citations with exact page numbers and URLs.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CONCLUSION &amp;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</a:defRPr>
            </a:pPr>
            <a:r>
              <a:t>9. Key Algorithmic Insights &amp; 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The Definitive Guide to Dijkstra's Algorithm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3328416" cy="4297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296265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B981"/>
                </a:solidFill>
              </a:defRPr>
            </a:pPr>
            <a:r>
              <a:t>Optimal Choice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788920"/>
            <a:ext cx="2962656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8FAFC"/>
                </a:solidFill>
              </a:defRPr>
            </a:pPr>
            <a:r>
              <a:t>• Dense graphs (E ≈ V²): Adjacency Matrix in O(V²).</a:t>
            </a:r>
            <a:br/>
            <a:r>
              <a:t>• Sparse graphs (E ≪ V²): Adjacency List + Min-Heap in O((V + E) log V).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16552" y="2011680"/>
            <a:ext cx="3328416" cy="4297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99432" y="2194560"/>
            <a:ext cx="296265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59E0B"/>
                </a:solidFill>
              </a:defRPr>
            </a:pPr>
            <a:r>
              <a:t>Critical Rule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9432" y="2788920"/>
            <a:ext cx="2962656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8FAFC"/>
                </a:solidFill>
              </a:defRPr>
            </a:pPr>
            <a:r>
              <a:t>All edge weights MUST be non-negative (w(e) ≥ 0). If negative weights exist, switch to Bellman-Ford O(V · E).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01584" y="2011680"/>
            <a:ext cx="3328416" cy="4297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4464" y="2194560"/>
            <a:ext cx="296265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</a:defRPr>
            </a:pPr>
            <a:r>
              <a:t>Interactive Playground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84464" y="2788920"/>
            <a:ext cx="2962656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8FAFC"/>
                </a:solidFill>
              </a:defRPr>
            </a:pPr>
            <a:r>
              <a:t>Explore step-by-step edge relaxation, inspect live priority queue states, and query the grounded RAG assistant directly in the web app!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